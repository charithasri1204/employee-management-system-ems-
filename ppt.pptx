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59" r:id="rId16"/>
  </p:sldIdLst>
  <p:sldSz cx="12192000" cy="6858000"/>
  <p:notesSz cx="6858000" cy="9144000"/>
  <p:embeddedFontLs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7" autoAdjust="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624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664172" y="3983162"/>
            <a:ext cx="9005862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600" b="1" dirty="0"/>
              <a:t>Employee Management System</a:t>
            </a:r>
          </a:p>
          <a:p>
            <a:endParaRPr lang="en-IN" sz="3600" b="1" dirty="0"/>
          </a:p>
          <a:p>
            <a:r>
              <a:rPr lang="en-IN" sz="1600" b="1" dirty="0"/>
              <a:t>                                    </a:t>
            </a:r>
            <a:r>
              <a:rPr lang="en-IN" sz="1600" dirty="0"/>
              <a:t>Presented by: Atluri Charitha Sri</a:t>
            </a:r>
          </a:p>
          <a:p>
            <a:r>
              <a:rPr lang="en-IN" sz="1600" b="1" dirty="0"/>
              <a:t>                                                                  </a:t>
            </a:r>
            <a:r>
              <a:rPr lang="en-IN" sz="1600" dirty="0"/>
              <a:t>538</a:t>
            </a:r>
          </a:p>
          <a:p>
            <a:r>
              <a:rPr lang="en-IN" sz="1600" b="1" dirty="0"/>
              <a:t>       </a:t>
            </a:r>
          </a:p>
          <a:p>
            <a:endParaRPr lang="en-IN" sz="1600" b="1" dirty="0"/>
          </a:p>
          <a:p>
            <a:r>
              <a:rPr lang="en-IN" sz="1600" b="1" dirty="0"/>
              <a:t>Technologies Used:</a:t>
            </a:r>
            <a:br>
              <a:rPr lang="en-IN" sz="1600" dirty="0"/>
            </a:br>
            <a:r>
              <a:rPr lang="en-IN" sz="1600" dirty="0"/>
              <a:t>MySQL | SQL</a:t>
            </a:r>
          </a:p>
          <a:p>
            <a:endParaRPr lang="en-IN" sz="1600" b="1" dirty="0"/>
          </a:p>
          <a:p>
            <a:r>
              <a:rPr lang="en-IN" sz="3600" b="1" dirty="0"/>
              <a:t>    </a:t>
            </a:r>
          </a:p>
          <a:p>
            <a:r>
              <a:rPr lang="en-IN" sz="3600" b="1" dirty="0">
                <a:effectLst/>
              </a:rPr>
              <a:t>    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195108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Background? (B-tech or M-tech)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IN" sz="1600" dirty="0"/>
              <a:t>B.Tech graduate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IN" sz="1600" dirty="0"/>
              <a:t>I want to learn Data Science to develop strong skills in Python, SQL, data analysis, visualization, and machine  learning. I’m interested in understanding data, finding useful insights,</a:t>
            </a:r>
            <a:r>
              <a:rPr lang="en-US" sz="1600" dirty="0"/>
              <a:t>and using data to solve 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1600" dirty="0"/>
              <a:t>real-world problems. I also want to build practical projects and prepare myself for a career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1600" dirty="0"/>
              <a:t>           in the data field.</a:t>
            </a:r>
            <a:endParaRPr lang="en-IN" sz="1600" dirty="0"/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IN" sz="1600" dirty="0"/>
              <a:t>I am a fresher with no prior professional work experience. I have been developing my technical skills through  </a:t>
            </a:r>
          </a:p>
          <a:p>
            <a:pPr>
              <a:buClr>
                <a:schemeClr val="dk1"/>
              </a:buClr>
              <a:buSzPts val="2400"/>
            </a:pPr>
            <a:r>
              <a:rPr lang="en-IN" sz="1600" dirty="0"/>
              <a:t>        </a:t>
            </a:r>
            <a:r>
              <a:rPr lang="en-US" sz="1600" dirty="0"/>
              <a:t>coursework, practice, and projects in Python, SQL, Excel, Power BI, and Data Science.</a:t>
            </a:r>
            <a:endParaRPr lang="en-IN"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IN" sz="1600" b="1" dirty="0"/>
              <a:t>LinkedIn </a:t>
            </a:r>
            <a:r>
              <a:rPr lang="en-IN" sz="1600" dirty="0"/>
              <a:t>: https://www.linkedin.com/in/charitha23/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1600" b="1" dirty="0"/>
              <a:t>       GitHub: </a:t>
            </a:r>
            <a:r>
              <a:rPr lang="en-IN" sz="1600" dirty="0"/>
              <a:t>https://github.com/charithasri1204</a:t>
            </a:r>
            <a:endParaRPr sz="1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17412" y="178810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39F7-8A52-76B8-1B7B-B40E9A398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384049"/>
            <a:ext cx="2834639" cy="738314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28418-4057-65A3-7901-C69BE51BF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1289304"/>
            <a:ext cx="9144000" cy="4645152"/>
          </a:xfrm>
        </p:spPr>
        <p:txBody>
          <a:bodyPr>
            <a:normAutofit/>
          </a:bodyPr>
          <a:lstStyle/>
          <a:p>
            <a:pPr algn="l"/>
            <a:r>
              <a:rPr lang="en-IN" sz="1600" dirty="0"/>
              <a:t>  </a:t>
            </a:r>
            <a:r>
              <a:rPr lang="en-IN" sz="1600" b="1" dirty="0"/>
              <a:t>To develop an Employee Management System database using MySQL and analyze</a:t>
            </a:r>
          </a:p>
          <a:p>
            <a:pPr algn="l"/>
            <a:r>
              <a:rPr lang="en-IN" sz="1600" b="1" dirty="0"/>
              <a:t>  employee, department, qualification, leave, salary, and payroll information to generate meaningful business  insight</a:t>
            </a:r>
          </a:p>
          <a:p>
            <a:endParaRPr lang="en-IN" sz="1600" dirty="0"/>
          </a:p>
          <a:p>
            <a:pPr algn="l"/>
            <a:r>
              <a:rPr lang="en-IN" sz="3200" b="1" dirty="0">
                <a:solidFill>
                  <a:srgbClr val="FF0000"/>
                </a:solidFill>
              </a:rPr>
              <a:t>Key objectives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Store employee information in a structured database. 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Maintain relationships between different employee-related tables. 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Analyze employee distribution across departments. 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Analyze salaries, bonuses, and payroll. 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Analyze employee qualifications and leave patterns. 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IN" sz="1600" b="1" dirty="0"/>
              <a:t>Use SQL queries to generate meaningful reports and insights.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7583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606B-67D6-5065-260C-1B52C98D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Database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1E451-4AB7-89F5-21B2-D80DD6D84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b="1" dirty="0"/>
              <a:t>The Employee Management System is designed as a relational database consisting of six interconnected tables.</a:t>
            </a:r>
            <a:endParaRPr lang="en-IN" sz="1600" dirty="0"/>
          </a:p>
          <a:p>
            <a:pPr marL="114300" lvl="0" indent="0">
              <a:buNone/>
            </a:pPr>
            <a:r>
              <a:rPr lang="en-IN" sz="1600" b="1" dirty="0"/>
              <a:t>JobDepartment</a:t>
            </a:r>
            <a:r>
              <a:rPr lang="en-IN" sz="1600" dirty="0"/>
              <a:t> – Stores job roles, departments, descriptions, and salary ranges. </a:t>
            </a:r>
          </a:p>
          <a:p>
            <a:pPr marL="114300" lvl="0" indent="0">
              <a:buNone/>
            </a:pPr>
            <a:r>
              <a:rPr lang="en-IN" sz="1600" b="1" dirty="0"/>
              <a:t>SalaryBonus</a:t>
            </a:r>
            <a:r>
              <a:rPr lang="en-IN" sz="1600" dirty="0"/>
              <a:t> – Stores salary, annual salary, and bonus information associated with each job. </a:t>
            </a:r>
          </a:p>
          <a:p>
            <a:pPr marL="114300" lvl="0" indent="0">
              <a:buNone/>
            </a:pPr>
            <a:r>
              <a:rPr lang="en-IN" sz="1600" b="1" dirty="0"/>
              <a:t>Employee</a:t>
            </a:r>
            <a:r>
              <a:rPr lang="en-IN" sz="1600" dirty="0"/>
              <a:t> – Stores employee personal details and their assigned job. </a:t>
            </a:r>
          </a:p>
          <a:p>
            <a:pPr marL="114300" lvl="0" indent="0">
              <a:buNone/>
            </a:pPr>
            <a:r>
              <a:rPr lang="en-IN" sz="1600" b="1" dirty="0"/>
              <a:t>Qualification</a:t>
            </a:r>
            <a:r>
              <a:rPr lang="en-IN" sz="1600" dirty="0"/>
              <a:t> – Stores the qualifications and requirements associated with employees. </a:t>
            </a:r>
          </a:p>
          <a:p>
            <a:pPr marL="114300" lvl="0" indent="0">
              <a:buNone/>
            </a:pPr>
            <a:r>
              <a:rPr lang="en-IN" sz="1600" b="1" dirty="0"/>
              <a:t>Leaves</a:t>
            </a:r>
            <a:r>
              <a:rPr lang="en-IN" sz="1600" dirty="0"/>
              <a:t> – Stores employee leave records, dates, and reasons. </a:t>
            </a:r>
          </a:p>
          <a:p>
            <a:pPr marL="114300" lvl="0" indent="0">
              <a:buNone/>
            </a:pPr>
            <a:r>
              <a:rPr lang="en-IN" sz="1600" b="1" dirty="0"/>
              <a:t>Payroll</a:t>
            </a:r>
            <a:r>
              <a:rPr lang="en-IN" sz="1600" dirty="0"/>
              <a:t> – Stores employee payroll details, including salary, leave references, and total payroll amount. </a:t>
            </a:r>
          </a:p>
          <a:p>
            <a:pPr marL="114300" lvl="0" indent="0">
              <a:buNone/>
            </a:pPr>
            <a:endParaRPr lang="en-IN" sz="1600" dirty="0"/>
          </a:p>
          <a:p>
            <a:pPr marL="114300" lvl="0" indent="0">
              <a:buNone/>
            </a:pPr>
            <a:r>
              <a:rPr lang="en-IN" sz="1600" b="1" dirty="0">
                <a:solidFill>
                  <a:srgbClr val="FF0000"/>
                </a:solidFill>
              </a:rPr>
              <a:t>Table Relationships</a:t>
            </a:r>
          </a:p>
          <a:p>
            <a:pPr marL="114300" lvl="0" indent="0">
              <a:buNone/>
            </a:pPr>
            <a:r>
              <a:rPr lang="en-IN" sz="1600" b="1" dirty="0"/>
              <a:t>Primary keys are used to uniquely identify records, while foreign keys establish relationships between the tables and maintain data consistency 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267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C92A-B631-6E54-E139-17E0D81B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E67D-1F98-2F48-DF0A-7A1EAD178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/>
          </a:bodyPr>
          <a:lstStyle/>
          <a:p>
            <a:r>
              <a:rPr lang="en-IN" sz="1600" dirty="0"/>
              <a:t>The Employee Management System contains six interconnected tables, with 60 records in each table. The dataset provides information about employees, departments, salaries, qualifications, leaves, and payroll.</a:t>
            </a:r>
          </a:p>
          <a:p>
            <a:endParaRPr lang="en-IN" sz="1600" dirty="0"/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7C5903-3555-1B3B-AFF0-F98E8B538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245891"/>
              </p:ext>
            </p:extLst>
          </p:nvPr>
        </p:nvGraphicFramePr>
        <p:xfrm>
          <a:off x="5431536" y="2122714"/>
          <a:ext cx="6190488" cy="341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3496">
                  <a:extLst>
                    <a:ext uri="{9D8B030D-6E8A-4147-A177-3AD203B41FA5}">
                      <a16:colId xmlns:a16="http://schemas.microsoft.com/office/drawing/2014/main" val="3127083152"/>
                    </a:ext>
                  </a:extLst>
                </a:gridCol>
                <a:gridCol w="2063496">
                  <a:extLst>
                    <a:ext uri="{9D8B030D-6E8A-4147-A177-3AD203B41FA5}">
                      <a16:colId xmlns:a16="http://schemas.microsoft.com/office/drawing/2014/main" val="3499298309"/>
                    </a:ext>
                  </a:extLst>
                </a:gridCol>
                <a:gridCol w="2063496">
                  <a:extLst>
                    <a:ext uri="{9D8B030D-6E8A-4147-A177-3AD203B41FA5}">
                      <a16:colId xmlns:a16="http://schemas.microsoft.com/office/drawing/2014/main" val="2548960611"/>
                    </a:ext>
                  </a:extLst>
                </a:gridCol>
              </a:tblGrid>
              <a:tr h="246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525366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Job roles, departments, and salary ranges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242531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SalaryBonus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Salary, annual salary, and bonus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496068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personal and job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452305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qualification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882703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leave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510815"/>
                  </a:ext>
                </a:extLst>
              </a:tr>
              <a:tr h="418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payroll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5091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23E13C-374C-47CB-33F0-C79C7EA3E18B}"/>
              </a:ext>
            </a:extLst>
          </p:cNvPr>
          <p:cNvSpPr txBox="1"/>
          <p:nvPr/>
        </p:nvSpPr>
        <p:spPr>
          <a:xfrm>
            <a:off x="1170432" y="2446976"/>
            <a:ext cx="4069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Key Data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60 employees</a:t>
            </a:r>
            <a:r>
              <a:rPr lang="en-IN" dirty="0"/>
              <a:t> are included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employees belong to </a:t>
            </a:r>
            <a:r>
              <a:rPr lang="en-IN" b="1" dirty="0"/>
              <a:t>8 different departments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Each employee has </a:t>
            </a:r>
            <a:r>
              <a:rPr lang="en-IN" b="1" dirty="0"/>
              <a:t>one qualification record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Each employee has </a:t>
            </a:r>
            <a:r>
              <a:rPr lang="en-IN" b="1" dirty="0"/>
              <a:t>one leave record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payroll dataset contains </a:t>
            </a:r>
            <a:r>
              <a:rPr lang="en-IN" b="1" dirty="0"/>
              <a:t>60 payroll records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7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ED87-BE5E-918E-56A6-59EED868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Key Analysis Questions /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59A93-B61E-71B0-9293-77B0BC200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dirty="0"/>
              <a:t>The project analyzes employee data across five key business areas to understand workforce distribution, compensation, qualifications, leave patterns, and payroll.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C14EB0-85D7-EF18-FC9D-C9D557DAD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83057"/>
              </p:ext>
            </p:extLst>
          </p:nvPr>
        </p:nvGraphicFramePr>
        <p:xfrm>
          <a:off x="838200" y="2579913"/>
          <a:ext cx="9862226" cy="3597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1113">
                  <a:extLst>
                    <a:ext uri="{9D8B030D-6E8A-4147-A177-3AD203B41FA5}">
                      <a16:colId xmlns:a16="http://schemas.microsoft.com/office/drawing/2014/main" val="298355360"/>
                    </a:ext>
                  </a:extLst>
                </a:gridCol>
                <a:gridCol w="4931113">
                  <a:extLst>
                    <a:ext uri="{9D8B030D-6E8A-4147-A177-3AD203B41FA5}">
                      <a16:colId xmlns:a16="http://schemas.microsoft.com/office/drawing/2014/main" val="2215111948"/>
                    </a:ext>
                  </a:extLst>
                </a:gridCol>
              </a:tblGrid>
              <a:tr h="378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Analysis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Use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479108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Employee distribution • Average salary • Top-paid employees • Salary expenditure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388197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Job &amp;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 roles • Salary ranges • Highest-paying roles • Salary allocation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001188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Qualification &amp;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qualifications • Position requirements • Qualification 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427716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Leave &amp; Absence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 patterns • Department-wise leaves • Most leaves • Leave vs payroll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010905"/>
                  </a:ext>
                </a:extLst>
              </a:tr>
              <a:tr h="64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Payroll &amp; Compensation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Monthly payroll • Department bonuses • Total bonuses • Average payroll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041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98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45CA-6901-7014-E67F-32C4778F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8B709-E74B-67B5-BDB3-91E02063A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94414"/>
            <a:ext cx="10515600" cy="3200400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F111B8-504C-9B65-680B-5C73615D0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83255"/>
              </p:ext>
            </p:extLst>
          </p:nvPr>
        </p:nvGraphicFramePr>
        <p:xfrm>
          <a:off x="838200" y="1609344"/>
          <a:ext cx="10515600" cy="3885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662523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3469513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3648"/>
                  </a:ext>
                </a:extLst>
              </a:tr>
              <a:tr h="62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👥 Employee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 employees are distributed across 8 departments. Finance and IT have the highest employee count with 9 employees each.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190909"/>
                  </a:ext>
                </a:extLst>
              </a:tr>
              <a:tr h="62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💼 Salary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salary expenditure is ₹43.21 lakh. The highest individual salary is ₹1.70 lakh.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596777"/>
                  </a:ext>
                </a:extLst>
              </a:tr>
              <a:tr h="62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🏢 Department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Legal has the highest average salary at ₹84,600, while HR has the lowest at ₹62,571.43.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459988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🎓 Qualifications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60 employees have one qualification record each.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792587"/>
                  </a:ext>
                </a:extLst>
              </a:tr>
              <a:tr h="62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🏖️ Leave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60 employees have one leave record, and all leave records are from 2024.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741634"/>
                  </a:ext>
                </a:extLst>
              </a:tr>
              <a:tr h="629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💰 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payroll processed is ₹27.78 lakh, with an average </a:t>
                      </a:r>
                      <a:r>
                        <a:rPr lang="en-IN" dirty="0" err="1"/>
                        <a:t>total_amount</a:t>
                      </a:r>
                      <a:r>
                        <a:rPr lang="en-IN" dirty="0"/>
                        <a:t> of ₹46,300.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59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05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3B57-48F8-5F5D-9EF3-519EC63E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Department-wise Salary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5D64C-2C69-AF04-BB2D-978029A4B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The analysis compares the average salary of employees across the eight </a:t>
            </a:r>
          </a:p>
          <a:p>
            <a:pPr marL="114300" indent="0">
              <a:buNone/>
            </a:pPr>
            <a:r>
              <a:rPr lang="en-IN" sz="1600" dirty="0"/>
              <a:t>departments to understand the department-wise salary structure.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3200" dirty="0">
                <a:solidFill>
                  <a:srgbClr val="FF0000"/>
                </a:solidFill>
              </a:rPr>
              <a:t>Key Observation</a:t>
            </a:r>
          </a:p>
          <a:p>
            <a:pPr marL="114300" indent="0">
              <a:buNone/>
            </a:pPr>
            <a:r>
              <a:rPr lang="en-IN" sz="1600" b="1" dirty="0"/>
              <a:t>Legal has the highest average salary at ₹84,600, while HR</a:t>
            </a:r>
          </a:p>
          <a:p>
            <a:pPr marL="114300" indent="0">
              <a:buNone/>
            </a:pPr>
            <a:r>
              <a:rPr lang="en-IN" sz="1600" b="1" dirty="0"/>
              <a:t> has the lowest average salary at ₹62,571.43 in the current dataset.</a:t>
            </a:r>
          </a:p>
          <a:p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CC3FC-913F-7938-20B1-EF4E7AB7D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29679"/>
              </p:ext>
            </p:extLst>
          </p:nvPr>
        </p:nvGraphicFramePr>
        <p:xfrm>
          <a:off x="7135586" y="2416629"/>
          <a:ext cx="3624944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472">
                  <a:extLst>
                    <a:ext uri="{9D8B030D-6E8A-4147-A177-3AD203B41FA5}">
                      <a16:colId xmlns:a16="http://schemas.microsoft.com/office/drawing/2014/main" val="3954948338"/>
                    </a:ext>
                  </a:extLst>
                </a:gridCol>
                <a:gridCol w="1812472">
                  <a:extLst>
                    <a:ext uri="{9D8B030D-6E8A-4147-A177-3AD203B41FA5}">
                      <a16:colId xmlns:a16="http://schemas.microsoft.com/office/drawing/2014/main" val="1309935890"/>
                    </a:ext>
                  </a:extLst>
                </a:gridCol>
              </a:tblGrid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Average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484598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₹84,600.00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945441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₹81,142.86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341359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₹75,428.57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335171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₹72,333.33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538966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₹70,888.89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243999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₹68,750.00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087487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₹65,625.00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765085"/>
                  </a:ext>
                </a:extLst>
              </a:tr>
              <a:tr h="284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₹62,571.43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264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255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9777-32D0-4F7A-454B-B87E5F70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Salary &amp; Payroll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0DE06-FC7A-E9EE-49B4-F1E8A4C58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The salary and payroll analysis provides an overview</a:t>
            </a:r>
          </a:p>
          <a:p>
            <a:pPr marL="114300" indent="0">
              <a:buNone/>
            </a:pPr>
            <a:r>
              <a:rPr lang="en-IN" sz="1600" dirty="0"/>
              <a:t> of employee compensation and the total</a:t>
            </a:r>
          </a:p>
          <a:p>
            <a:pPr marL="114300" indent="0">
              <a:buNone/>
            </a:pPr>
            <a:r>
              <a:rPr lang="en-IN" sz="1600" dirty="0"/>
              <a:t> payroll processed by the organization.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dirty="0">
                <a:solidFill>
                  <a:srgbClr val="FF0000"/>
                </a:solidFill>
              </a:rPr>
              <a:t>Key Observation</a:t>
            </a:r>
          </a:p>
          <a:p>
            <a:pPr marL="114300" indent="0">
              <a:buNone/>
            </a:pPr>
            <a:r>
              <a:rPr lang="en-IN" sz="1600" b="1" dirty="0"/>
              <a:t>The analysis shows a total salary expenditure of</a:t>
            </a:r>
          </a:p>
          <a:p>
            <a:pPr marL="114300" indent="0">
              <a:buNone/>
            </a:pPr>
            <a:r>
              <a:rPr lang="en-IN" sz="1600" b="1" dirty="0"/>
              <a:t> ₹43.21 lakh, while the total payroll processed in </a:t>
            </a:r>
          </a:p>
          <a:p>
            <a:pPr marL="114300" indent="0">
              <a:buNone/>
            </a:pPr>
            <a:r>
              <a:rPr lang="en-IN" sz="1600" b="1" dirty="0"/>
              <a:t>the available payroll records is ₹27.78 lakh.</a:t>
            </a:r>
            <a:endParaRPr lang="en-IN" sz="1600" dirty="0"/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D84B6D-B752-4692-ED44-4A669FE9F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345977"/>
              </p:ext>
            </p:extLst>
          </p:nvPr>
        </p:nvGraphicFramePr>
        <p:xfrm>
          <a:off x="5486400" y="2481942"/>
          <a:ext cx="5094514" cy="30534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5229">
                  <a:extLst>
                    <a:ext uri="{9D8B030D-6E8A-4147-A177-3AD203B41FA5}">
                      <a16:colId xmlns:a16="http://schemas.microsoft.com/office/drawing/2014/main" val="1798092088"/>
                    </a:ext>
                  </a:extLst>
                </a:gridCol>
                <a:gridCol w="2449285">
                  <a:extLst>
                    <a:ext uri="{9D8B030D-6E8A-4147-A177-3AD203B41FA5}">
                      <a16:colId xmlns:a16="http://schemas.microsoft.com/office/drawing/2014/main" val="2719598626"/>
                    </a:ext>
                  </a:extLst>
                </a:gridCol>
              </a:tblGrid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144392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Employees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290979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Total Salary Expenditure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₹43.21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085400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Highest Individual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₹1.70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503030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Highest-Paid Job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Finance Director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424477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Total Payroll Processed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₹27.78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64716"/>
                  </a:ext>
                </a:extLst>
              </a:tr>
              <a:tr h="436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Average Payroll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₹46,300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51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45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3536-1793-4AFC-5B6B-F31EBBBE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Qualification &amp; Leave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AA819-DEE2-4D54-C34D-E74BB1554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sz="1600" dirty="0"/>
              <a:t>The analysis of qualifications and leave records helps us understand</a:t>
            </a:r>
          </a:p>
          <a:p>
            <a:pPr marL="114300" indent="0">
              <a:buNone/>
            </a:pPr>
            <a:r>
              <a:rPr lang="en-IN" sz="1600" dirty="0"/>
              <a:t> employee development information and absence patterns within the </a:t>
            </a:r>
          </a:p>
          <a:p>
            <a:pPr marL="114300" indent="0">
              <a:buNone/>
            </a:pPr>
            <a:r>
              <a:rPr lang="en-IN" sz="1600" dirty="0"/>
              <a:t>organization.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b="1" dirty="0">
                <a:solidFill>
                  <a:srgbClr val="FF0000"/>
                </a:solidFill>
              </a:rPr>
              <a:t>Data Limitation</a:t>
            </a:r>
          </a:p>
          <a:p>
            <a:pPr marL="114300" indent="0">
              <a:buNone/>
            </a:pPr>
            <a:r>
              <a:rPr lang="en-IN" sz="1600" dirty="0"/>
              <a:t>The Leaves table contains leave records but does not include a </a:t>
            </a:r>
          </a:p>
          <a:p>
            <a:pPr marL="114300" indent="0">
              <a:buNone/>
            </a:pPr>
            <a:r>
              <a:rPr lang="en-IN" sz="1600" dirty="0"/>
              <a:t>separate leave-days or duration field. Therefore, actual leave </a:t>
            </a:r>
          </a:p>
          <a:p>
            <a:pPr marL="114300" indent="0">
              <a:buNone/>
            </a:pPr>
            <a:r>
              <a:rPr lang="en-IN" sz="1600" dirty="0"/>
              <a:t>duration cannot be calculated directly from the available data.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b="1" dirty="0">
                <a:solidFill>
                  <a:srgbClr val="FF0000"/>
                </a:solidFill>
              </a:rPr>
              <a:t>Key Observation</a:t>
            </a:r>
          </a:p>
          <a:p>
            <a:pPr marL="114300" indent="0">
              <a:buNone/>
            </a:pPr>
            <a:r>
              <a:rPr lang="en-IN" sz="1600" dirty="0"/>
              <a:t>There is no variation in qualification count or leave frequency </a:t>
            </a:r>
          </a:p>
          <a:p>
            <a:pPr marL="114300" indent="0">
              <a:buNone/>
            </a:pPr>
            <a:r>
              <a:rPr lang="en-IN" sz="1600" dirty="0"/>
              <a:t>because every employee has one qualification record and</a:t>
            </a:r>
          </a:p>
          <a:p>
            <a:pPr marL="114300" indent="0">
              <a:buNone/>
            </a:pPr>
            <a:r>
              <a:rPr lang="en-IN" sz="1600" dirty="0"/>
              <a:t> one leave record in the current dataset.</a:t>
            </a:r>
          </a:p>
          <a:p>
            <a:pPr marL="114300" indent="0">
              <a:buNone/>
            </a:pPr>
            <a:endParaRPr lang="en-IN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9EDA41-26AA-826C-53DB-C3A602D76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29063"/>
              </p:ext>
            </p:extLst>
          </p:nvPr>
        </p:nvGraphicFramePr>
        <p:xfrm>
          <a:off x="6858000" y="1825626"/>
          <a:ext cx="4495802" cy="4308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901">
                  <a:extLst>
                    <a:ext uri="{9D8B030D-6E8A-4147-A177-3AD203B41FA5}">
                      <a16:colId xmlns:a16="http://schemas.microsoft.com/office/drawing/2014/main" val="3016359824"/>
                    </a:ext>
                  </a:extLst>
                </a:gridCol>
                <a:gridCol w="2247901">
                  <a:extLst>
                    <a:ext uri="{9D8B030D-6E8A-4147-A177-3AD203B41FA5}">
                      <a16:colId xmlns:a16="http://schemas.microsoft.com/office/drawing/2014/main" val="284575302"/>
                    </a:ext>
                  </a:extLst>
                </a:gridCol>
              </a:tblGrid>
              <a:tr h="392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08480"/>
                  </a:ext>
                </a:extLst>
              </a:tr>
              <a:tr h="66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Employees with Qualifications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60 employees have a qualification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545230"/>
                  </a:ext>
                </a:extLst>
              </a:tr>
              <a:tr h="66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Qualification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Each employee has exactly 1 qualification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242151"/>
                  </a:ext>
                </a:extLst>
              </a:tr>
              <a:tr h="66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Employees Taking Leave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60 employees have a leave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810050"/>
                  </a:ext>
                </a:extLst>
              </a:tr>
              <a:tr h="66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leave records in the dataset are from 2024.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865371"/>
                  </a:ext>
                </a:extLst>
              </a:tr>
              <a:tr h="392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Leave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 leave records are present.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220225"/>
                  </a:ext>
                </a:extLst>
              </a:tr>
              <a:tr h="66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Each employee has exactly 1 leave record.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82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99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CB00-27A2-FC20-4DD7-A392C054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874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Challenges &amp; My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7076F-1FE3-ABE1-5DFC-6FFA5BC75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28" y="1257300"/>
            <a:ext cx="10880272" cy="4935992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sz="2100" dirty="0"/>
              <a:t>During the development of the Employee Management System, several challenges were encountered while designing the database and performing the analysis.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Challenges Faced</a:t>
            </a:r>
          </a:p>
          <a:p>
            <a:r>
              <a:rPr lang="en-IN" sz="2100" dirty="0"/>
              <a:t>Understanding relationships between the six tables. </a:t>
            </a:r>
          </a:p>
          <a:p>
            <a:r>
              <a:rPr lang="en-IN" sz="2100" dirty="0"/>
              <a:t>Writing complex JOIN queries. </a:t>
            </a:r>
          </a:p>
          <a:p>
            <a:r>
              <a:rPr lang="en-IN" sz="2100" dirty="0"/>
              <a:t>Handling salary range calculations. </a:t>
            </a:r>
          </a:p>
          <a:p>
            <a:r>
              <a:rPr lang="en-IN" sz="2100" dirty="0"/>
              <a:t>Working with limitations in the leave data. </a:t>
            </a:r>
          </a:p>
          <a:p>
            <a:r>
              <a:rPr lang="en-IN" sz="2100" dirty="0"/>
              <a:t>Debugging SQL errors and incorrect queries</a:t>
            </a:r>
            <a:r>
              <a:rPr lang="en-IN" dirty="0"/>
              <a:t>. </a:t>
            </a:r>
          </a:p>
          <a:p>
            <a:endParaRPr lang="en-IN" dirty="0"/>
          </a:p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My Experience</a:t>
            </a:r>
          </a:p>
          <a:p>
            <a:pPr marL="114300" indent="0">
              <a:buNone/>
            </a:pPr>
            <a:r>
              <a:rPr lang="en-IN" sz="2300" dirty="0"/>
              <a:t>This project helped me improve my understanding of SQL, database relationships, data analysis, and problem-solving.</a:t>
            </a:r>
          </a:p>
          <a:p>
            <a:pPr marL="114300" indent="0">
              <a:buNone/>
            </a:pPr>
            <a:endParaRPr lang="en-IN" sz="2300" dirty="0"/>
          </a:p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Key Learning</a:t>
            </a:r>
          </a:p>
          <a:p>
            <a:pPr marL="114300" indent="0">
              <a:buNone/>
            </a:pPr>
            <a:r>
              <a:rPr lang="en-IN" sz="2300" dirty="0"/>
              <a:t>I gained practical experience in writing SQL queries and converting data into meaningful insights.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07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82D5-1B9E-3A0C-9DEA-B7E03348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CD025-156D-C149-0C42-578683096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114300" indent="0">
              <a:buNone/>
            </a:pPr>
            <a:r>
              <a:rPr lang="en-IN" sz="1600" dirty="0"/>
              <a:t>The Employee Management System successfully organizes employee, job, salary, qualification, leave, and payroll information in a structured relational database.</a:t>
            </a:r>
          </a:p>
          <a:p>
            <a:pPr marL="114300" indent="0">
              <a:buNone/>
            </a:pPr>
            <a:r>
              <a:rPr lang="en-IN" b="1" dirty="0">
                <a:solidFill>
                  <a:srgbClr val="FF0000"/>
                </a:solidFill>
              </a:rPr>
              <a:t>Key Findings </a:t>
            </a:r>
          </a:p>
          <a:p>
            <a:pPr marL="114300" indent="0">
              <a:buNone/>
            </a:pPr>
            <a:endParaRPr lang="en-IN" b="1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202466-9C3A-38F4-9640-020D0DF3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022196"/>
              </p:ext>
            </p:extLst>
          </p:nvPr>
        </p:nvGraphicFramePr>
        <p:xfrm>
          <a:off x="1045028" y="3220403"/>
          <a:ext cx="7756072" cy="2956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4238">
                  <a:extLst>
                    <a:ext uri="{9D8B030D-6E8A-4147-A177-3AD203B41FA5}">
                      <a16:colId xmlns:a16="http://schemas.microsoft.com/office/drawing/2014/main" val="1904917781"/>
                    </a:ext>
                  </a:extLst>
                </a:gridCol>
                <a:gridCol w="4871834">
                  <a:extLst>
                    <a:ext uri="{9D8B030D-6E8A-4147-A177-3AD203B41FA5}">
                      <a16:colId xmlns:a16="http://schemas.microsoft.com/office/drawing/2014/main" val="1808901528"/>
                    </a:ext>
                  </a:extLst>
                </a:gridCol>
              </a:tblGrid>
              <a:tr h="217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121302"/>
                  </a:ext>
                </a:extLst>
              </a:tr>
              <a:tr h="24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 employees across 8 departments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256162"/>
                  </a:ext>
                </a:extLst>
              </a:tr>
              <a:tr h="37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 and IT have the highest employee count with 9 employees each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265599"/>
                  </a:ext>
                </a:extLst>
              </a:tr>
              <a:tr h="24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salary expenditure of ₹43.21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530869"/>
                  </a:ext>
                </a:extLst>
              </a:tr>
              <a:tr h="217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Highest Individual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₹1.70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29523"/>
                  </a:ext>
                </a:extLst>
              </a:tr>
              <a:tr h="24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payroll processed of ₹27.78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04794"/>
                  </a:ext>
                </a:extLst>
              </a:tr>
              <a:tr h="217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Payroll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₹46,300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94054"/>
                  </a:ext>
                </a:extLst>
              </a:tr>
              <a:tr h="24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Each employee has 1 qualification 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676126"/>
                  </a:ext>
                </a:extLst>
              </a:tr>
              <a:tr h="24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Each employee has 1 leave 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735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0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28F8-B1F7-19C6-651D-58BF1F2C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E8931-9200-0453-1501-A6EFEA0EE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 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                        </a:t>
            </a:r>
            <a:r>
              <a:rPr lang="en-IN" sz="3200" b="1" dirty="0"/>
              <a:t>Thank you for your time and attention.</a:t>
            </a:r>
          </a:p>
          <a:p>
            <a:pPr marL="114300" indent="0">
              <a:buNone/>
            </a:pPr>
            <a:r>
              <a:rPr lang="en-IN" sz="3200" b="1" dirty="0"/>
              <a:t>                      I would be happy to answer any questions.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50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1300</Words>
  <Application>Microsoft Office PowerPoint</Application>
  <PresentationFormat>Widescreen</PresentationFormat>
  <Paragraphs>234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Lato Black</vt:lpstr>
      <vt:lpstr>Libre Baskerville</vt:lpstr>
      <vt:lpstr>Arial</vt:lpstr>
      <vt:lpstr>Calibri</vt:lpstr>
      <vt:lpstr>Office Theme</vt:lpstr>
      <vt:lpstr>PowerPoint Presentation</vt:lpstr>
      <vt:lpstr>PowerPoint Presentation</vt:lpstr>
      <vt:lpstr>Agenda</vt:lpstr>
      <vt:lpstr>Objective</vt:lpstr>
      <vt:lpstr>Database Structure</vt:lpstr>
      <vt:lpstr>Data Overview</vt:lpstr>
      <vt:lpstr>Key Analysis Questions / Use Cases</vt:lpstr>
      <vt:lpstr>Key Findings</vt:lpstr>
      <vt:lpstr>Department-wise Salary Analysis</vt:lpstr>
      <vt:lpstr>Salary &amp; Payroll Analysis</vt:lpstr>
      <vt:lpstr>Qualification &amp; Leave Analysis</vt:lpstr>
      <vt:lpstr>Challenges &amp; My Experience</vt:lpstr>
      <vt:lpstr>Conclusion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charithaatluri@outlook.com</cp:lastModifiedBy>
  <cp:revision>2</cp:revision>
  <dcterms:created xsi:type="dcterms:W3CDTF">2021-02-16T05:19:01Z</dcterms:created>
  <dcterms:modified xsi:type="dcterms:W3CDTF">2026-09-23T18:07:29Z</dcterms:modified>
</cp:coreProperties>
</file>